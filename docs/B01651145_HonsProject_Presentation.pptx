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58" r:id="rId7"/>
    <p:sldId id="276" r:id="rId8"/>
    <p:sldId id="277" r:id="rId9"/>
    <p:sldId id="260" r:id="rId10"/>
    <p:sldId id="285" r:id="rId11"/>
    <p:sldId id="271" r:id="rId12"/>
    <p:sldId id="278" r:id="rId13"/>
    <p:sldId id="279" r:id="rId14"/>
    <p:sldId id="280" r:id="rId15"/>
    <p:sldId id="281" r:id="rId16"/>
    <p:sldId id="282" r:id="rId17"/>
    <p:sldId id="286" r:id="rId18"/>
    <p:sldId id="283" r:id="rId19"/>
    <p:sldId id="284" r:id="rId20"/>
    <p:sldId id="267" r:id="rId21"/>
    <p:sldId id="275" r:id="rId22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9EFC"/>
    <a:srgbClr val="66CCFF"/>
    <a:srgbClr val="FFFFFF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7" autoAdjust="0"/>
    <p:restoredTop sz="94718"/>
  </p:normalViewPr>
  <p:slideViewPr>
    <p:cSldViewPr snapToGrid="0">
      <p:cViewPr varScale="1">
        <p:scale>
          <a:sx n="142" d="100"/>
          <a:sy n="142" d="100"/>
        </p:scale>
        <p:origin x="85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1389FC-84BB-41A0-BC92-057C08DC342F}" type="datetime1">
              <a:rPr lang="en-GB" smtClean="0"/>
              <a:t>01/03/2026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9B039-1C6C-4DB3-861A-76F1FF2AC578}" type="datetime1">
              <a:rPr lang="en-GB" noProof="0" smtClean="0"/>
              <a:pPr/>
              <a:t>01/03/2026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809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244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A2AC-8A84-046C-2233-41C46E35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AE639-F6A6-B474-19EE-3C3B76D0D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41E53-5183-3FAE-8F95-E6A2F8EFB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92C57-B7DC-E72F-50D7-9BEB7A8A9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84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85762-8F49-6CE5-B615-99E9FCD8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92274-5FE5-7316-4ABC-4676B68B4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4528B-490E-4382-715C-4A422C065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46EA-0D4B-A0AC-1578-EF4CA4F9C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061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690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07106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033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9753-A41E-3F92-388D-CBE7492DA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0F9F6-A21A-ED3D-DD19-31CA93E59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B582A-6E13-A58B-1098-5031DCF37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9F62E-58DE-0719-87E6-26D23FBA7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343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A166-6AEB-697C-41F2-7C015342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C13A8-F7C4-4327-0143-D907BB82C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F9DF7-4695-6096-5242-C341FBE93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518DB-12D4-5CF1-BB4E-AB77CF720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361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C18B-EBC7-1807-25F8-CC075FE5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84AF0-F2C1-129D-68A0-01FEF33EE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437F1-1C6B-14FC-7B7B-2316C2537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22D5-6D5B-AC2D-66F4-4AA12F380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792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78156-56BB-C61C-BBC8-7CED115D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5D708-65E3-71F3-64B1-1EB2FA276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DD204-AB90-819F-B25D-263DF9DF0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9FAC4-49E3-95F2-1410-16CD1D04C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311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B463-7278-7CC6-581B-36D7410A8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D3126-D62D-8C37-9E96-1A36BD8FA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5AAAB-1D36-4389-6802-416948270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41F55-D475-4DE4-49F4-FB69D22E7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721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1CFA-5347-35E0-0E7E-6414C2C1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F78B2-0698-87B7-5FEB-D8B2BD23D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CF130-3317-840B-33AD-796FD93F9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B86B1-5DB3-BE22-DD8B-5B623F880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200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6971-D365-81E4-4334-43E9BC90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FC714-14E7-8C96-0D07-684B216A0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57934-86D3-2E8A-8F44-34C2EC3D5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36CBD-5F34-895E-07AD-4E46CAE7A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25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013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71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337982"/>
            <a:ext cx="7035213" cy="2387600"/>
          </a:xfrm>
        </p:spPr>
        <p:txBody>
          <a:bodyPr rtlCol="0"/>
          <a:lstStyle/>
          <a:p>
            <a:pPr rtl="0"/>
            <a:r>
              <a:rPr lang="en-GB" sz="4400" dirty="0"/>
              <a:t>Comparative Performance Analysis of PHP MVC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826972"/>
            <a:ext cx="9500507" cy="492591"/>
          </a:xfrm>
        </p:spPr>
        <p:txBody>
          <a:bodyPr rtlCol="0"/>
          <a:lstStyle/>
          <a:p>
            <a:pPr rtl="0"/>
            <a:r>
              <a:rPr lang="en-GB" sz="2800" dirty="0">
                <a:solidFill>
                  <a:schemeClr val="accent5">
                    <a:lumMod val="50000"/>
                  </a:schemeClr>
                </a:solidFill>
              </a:rPr>
              <a:t>Corey Black - B01651145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9980AC-80AC-8C84-0750-94C436E08939}"/>
              </a:ext>
            </a:extLst>
          </p:cNvPr>
          <p:cNvSpPr txBox="1">
            <a:spLocks/>
          </p:cNvSpPr>
          <p:nvPr/>
        </p:nvSpPr>
        <p:spPr>
          <a:xfrm>
            <a:off x="3632787" y="4686720"/>
            <a:ext cx="7035213" cy="2178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GB" sz="1600" dirty="0"/>
              <a:t>BSc (Hons) Web &amp; Mobile Development</a:t>
            </a:r>
            <a:br>
              <a:rPr lang="en-GB" sz="1600" dirty="0"/>
            </a:br>
            <a:r>
              <a:rPr lang="en-GB" sz="1600" dirty="0"/>
              <a:t>Computing Honours Project (COMP10034)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Supervisor: Dr Pablo Salva Garcia</a:t>
            </a:r>
            <a:br>
              <a:rPr lang="en-GB" sz="1600" dirty="0"/>
            </a:br>
            <a:r>
              <a:rPr lang="en-GB" sz="1600" dirty="0"/>
              <a:t>Moderator: Mr Sajjad Bagheri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University of the West of Scotland</a:t>
            </a:r>
            <a:br>
              <a:rPr lang="en-GB" sz="1600" dirty="0"/>
            </a:br>
            <a:r>
              <a:rPr lang="en-GB" sz="1600" dirty="0"/>
              <a:t>February 2026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36523"/>
          </a:xfrm>
        </p:spPr>
        <p:txBody>
          <a:bodyPr rtlCol="0"/>
          <a:lstStyle/>
          <a:p>
            <a:pPr rtl="0"/>
            <a:r>
              <a:rPr lang="en-GB" dirty="0"/>
              <a:t>Research Problem &amp;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415845"/>
            <a:ext cx="9779182" cy="467032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>
              <a:spcBef>
                <a:spcPts val="500"/>
              </a:spcBef>
            </a:pPr>
            <a:r>
              <a:rPr lang="en-GB" sz="1900" b="1" dirty="0"/>
              <a:t>Research Problem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Limited rigorous, controlled empirical evaluation of PHP framework-level performance.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Comparative findings are often fragmented and methodologically inconsistent.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Framework selection is frequently influenced by ecosystem popularity rather than reproducible performance analysis.</a:t>
            </a:r>
          </a:p>
          <a:p>
            <a:endParaRPr lang="en-GB" sz="1700" b="1" dirty="0"/>
          </a:p>
          <a:p>
            <a:pPr rtl="0">
              <a:spcBef>
                <a:spcPts val="500"/>
              </a:spcBef>
            </a:pPr>
            <a:r>
              <a:rPr lang="en-GB" sz="1900" b="1" dirty="0"/>
              <a:t>Research Gap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Many comparative studies rely on non-equivalent implementations.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Runtime and environmental configurations are often inconsistent.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Micro-benchmarks frequently lack representative CRUD workload realism.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500" dirty="0"/>
              <a:t>Controlled studies using functionally equivalent, real-world implementations remain limited.</a:t>
            </a:r>
          </a:p>
          <a:p>
            <a:endParaRPr lang="en-GB" sz="1500" dirty="0"/>
          </a:p>
          <a:p>
            <a:pPr>
              <a:spcBef>
                <a:spcPts val="500"/>
              </a:spcBef>
            </a:pPr>
            <a:r>
              <a:rPr lang="en-GB" sz="1900" b="1" dirty="0"/>
              <a:t>Research Contribution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Establishes a controlled, reproducible experimental framework for evaluating framework-level architectural performance.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Isolated architectural overhead through single independent variable design.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400" dirty="0"/>
              <a:t>Provides empirically grounded evidence to support informed, evidence-based framewo</a:t>
            </a:r>
            <a:r>
              <a:rPr lang="en-GB" sz="1400" dirty="0">
                <a:solidFill>
                  <a:schemeClr val="bg1"/>
                </a:solidFill>
              </a:rPr>
              <a:t>rk selec</a:t>
            </a:r>
            <a:r>
              <a:rPr lang="en-GB" sz="1400" dirty="0"/>
              <a:t>tion.</a:t>
            </a:r>
            <a:endParaRPr lang="en-GB" sz="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39135" y="6356350"/>
            <a:ext cx="4314265" cy="365125"/>
          </a:xfrm>
        </p:spPr>
        <p:txBody>
          <a:bodyPr rtlCol="0"/>
          <a:lstStyle/>
          <a:p>
            <a:pPr rtl="0"/>
            <a:r>
              <a:rPr lang="en-GB" dirty="0"/>
              <a:t>Comparative Performance Analysis of PHP MVC Frameworks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en-GB" dirty="0"/>
              <a:t>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501153"/>
            <a:ext cx="9779183" cy="35884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rtl="0">
              <a:lnSpc>
                <a:spcPct val="110000"/>
              </a:lnSpc>
            </a:pPr>
            <a:r>
              <a:rPr lang="en-GB" sz="2200" b="1" dirty="0"/>
              <a:t>Aim</a:t>
            </a:r>
          </a:p>
          <a:p>
            <a:pPr rtl="0">
              <a:lnSpc>
                <a:spcPct val="100000"/>
              </a:lnSpc>
            </a:pPr>
            <a:r>
              <a:rPr lang="en-GB" sz="1600" dirty="0"/>
              <a:t>To empirically evaluate and compare the architectural performance characteristics of four major PHP MVC frameworks under controlled, functionally equivalent conditions.</a:t>
            </a:r>
          </a:p>
          <a:p>
            <a:pPr rtl="0">
              <a:lnSpc>
                <a:spcPct val="100000"/>
              </a:lnSpc>
            </a:pPr>
            <a:endParaRPr lang="en-GB" sz="1600" dirty="0"/>
          </a:p>
          <a:p>
            <a:pPr rtl="0">
              <a:lnSpc>
                <a:spcPct val="100000"/>
              </a:lnSpc>
            </a:pPr>
            <a:r>
              <a:rPr lang="en-GB" sz="2200" b="1" dirty="0"/>
              <a:t>Objectives</a:t>
            </a:r>
          </a:p>
          <a:p>
            <a:pPr marL="342900" indent="-342900" rtl="0">
              <a:lnSpc>
                <a:spcPct val="100000"/>
              </a:lnSpc>
              <a:buFont typeface="+mj-lt"/>
              <a:buAutoNum type="arabicPeriod"/>
            </a:pPr>
            <a:r>
              <a:rPr lang="en-GB" sz="1600" dirty="0"/>
              <a:t>Implement functionally equivalent CRUD-based applications in Laravel, Symfony, CodeIgniter and Yii.</a:t>
            </a:r>
          </a:p>
          <a:p>
            <a:pPr marL="342900" indent="-342900" rtl="0">
              <a:lnSpc>
                <a:spcPct val="100000"/>
              </a:lnSpc>
              <a:buFont typeface="+mj-lt"/>
              <a:buAutoNum type="arabicPeriod"/>
            </a:pPr>
            <a:r>
              <a:rPr lang="en-GB" sz="1600" dirty="0"/>
              <a:t>Establish a standardised experimental environment (PHP 8.2.12, Apache, MariaDB) with controlled runtime configuration.</a:t>
            </a:r>
          </a:p>
          <a:p>
            <a:pPr marL="342900" indent="-342900" rtl="0">
              <a:lnSpc>
                <a:spcPct val="100000"/>
              </a:lnSpc>
              <a:buFont typeface="+mj-lt"/>
              <a:buAutoNum type="arabicPeriod"/>
            </a:pPr>
            <a:r>
              <a:rPr lang="en-GB" sz="1600" dirty="0"/>
              <a:t>Design and execute reproducible benchmarking scenarios using Apache JMeter and Locust.</a:t>
            </a:r>
          </a:p>
          <a:p>
            <a:pPr marL="342900" indent="-342900" rtl="0">
              <a:lnSpc>
                <a:spcPct val="100000"/>
              </a:lnSpc>
              <a:buFont typeface="+mj-lt"/>
              <a:buAutoNum type="arabicPeriod"/>
            </a:pPr>
            <a:r>
              <a:rPr lang="en-GB" sz="1600" dirty="0"/>
              <a:t>Measure response time (mean, P95), throughput, and memory utilisation under defined concurrency levels.</a:t>
            </a:r>
          </a:p>
          <a:p>
            <a:pPr marL="342900" indent="-342900" rtl="0">
              <a:lnSpc>
                <a:spcPct val="100000"/>
              </a:lnSpc>
              <a:buFont typeface="+mj-lt"/>
              <a:buAutoNum type="arabicPeriod"/>
            </a:pPr>
            <a:r>
              <a:rPr lang="en-GB" sz="1600" dirty="0"/>
              <a:t>Analyse performance differences in relation to framework architecture (middleware depth, service container overhead, ORM abstraction).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6174-CBC5-7B48-9681-7DDAC423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06371" y="6356350"/>
            <a:ext cx="4247029" cy="365125"/>
          </a:xfrm>
        </p:spPr>
        <p:txBody>
          <a:bodyPr rtlCol="0"/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82A3-CB85-8102-E22A-FAE39285C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EF4A-3453-6623-BD98-8E5C5EDF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/>
              <a:t>Research Methodology &amp; Experimental Design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F867BB-24E8-3723-87B1-3EA67D2E09A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/>
          <a:lstStyle/>
          <a:p>
            <a:r>
              <a:rPr lang="en-GB" dirty="0"/>
              <a:t>Research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3377D-354D-79D9-7E5D-7C3CF41BE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615453"/>
            <a:ext cx="3218688" cy="27394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Controlled experimental benchmarking study.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Single independent variable: PHP MVC framework (Laravel, Symfony, CodeIgniter, Yii).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Functionally equivalent CRUD applications to isolate architectural overhead.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1979D1-4702-90B5-AE87-E34C273E0FF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/>
          <a:lstStyle/>
          <a:p>
            <a:r>
              <a:rPr lang="en-GB" dirty="0"/>
              <a:t>Controlled 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77D607-1C03-C86F-9A68-0159A1C58D2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615453"/>
            <a:ext cx="3173279" cy="32937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Identical database schema and fixed dataset size.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PHP 8.2.12 runtime and consistent Apache/MariaDB configuration.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Debugging disabled; production-equivalent settings applied.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Identical workload definitions and concurrency levels.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C0A3241-42CD-4EB2-D4C2-E0E2D4A9D4A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1815353"/>
            <a:ext cx="3173278" cy="710965"/>
          </a:xfrm>
        </p:spPr>
        <p:txBody>
          <a:bodyPr rtlCol="0"/>
          <a:lstStyle/>
          <a:p>
            <a:r>
              <a:rPr lang="en-GB" sz="2000" dirty="0"/>
              <a:t>Dependant Variables (Performance Metrics)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8FF8B1B-E602-9508-4EAF-94824AD571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615453"/>
            <a:ext cx="3173279" cy="2739478"/>
          </a:xfrm>
        </p:spPr>
        <p:txBody>
          <a:bodyPr rtlCol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Response time (mean, P95 tail latency).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Throughput (requests per second).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Resource utilisation (CPU and memory consumption).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1E9B-A6ED-F54F-B200-8E99A9E7D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</p:spPr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2AA73B-D541-D1FF-5F19-3E4D7BE0F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0798" y="6356350"/>
            <a:ext cx="4179794" cy="365125"/>
          </a:xfrm>
        </p:spPr>
        <p:txBody>
          <a:bodyPr rtlCol="0"/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52F553-7FF0-E543-D3E0-9E2723BC7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06261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C0C3-4AFF-75FC-8C78-F2CE59CF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41F2-C4F9-4245-8C06-7D72C89C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/>
              <a:t>Benchmarking Framework &amp; Workload Design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AEB5D2-E8B0-193D-E8BB-6C87C78ED60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/>
          <a:lstStyle/>
          <a:p>
            <a:r>
              <a:rPr lang="en-GB" dirty="0"/>
              <a:t>Benchmarking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CD338-F080-BFC2-0016-41CDB3F75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615453"/>
            <a:ext cx="3218688" cy="27394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Apache JMeter – controlled load generation.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Locust – scripted, behaviour-driven workload simulation.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Multiple repeated runs per framework for statistical stability.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B9422B2-B6F3-9E2B-BD3F-89BDC123C9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/>
          <a:lstStyle/>
          <a:p>
            <a:r>
              <a:rPr lang="en-GB" dirty="0"/>
              <a:t>Workload Design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1C7F80-B9EA-B440-6A56-43E0E9A7606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615453"/>
            <a:ext cx="3173279" cy="27394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Standardised CRUD endpoints (Create, Read, Update, Delete).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Identical request payloads and fixed dataset size.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No application-level caching enabled.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6BD11F2-BDB7-CECE-DE0E-E6FDFB424B7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615453"/>
            <a:ext cx="3173279" cy="2739478"/>
          </a:xfrm>
        </p:spPr>
        <p:txBody>
          <a:bodyPr rtlCol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Defined concurrency levels: 1, 10, 50, 100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Controlled ramp-up periods and warm-up phase.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Percentile-based analysis (P95) from aggregated results.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FCF03-17E6-277B-7D19-EE6E789AAA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</p:spPr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904DB4-EC0C-5711-6DC4-C40245AF0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0798" y="6356350"/>
            <a:ext cx="4179794" cy="365125"/>
          </a:xfrm>
        </p:spPr>
        <p:txBody>
          <a:bodyPr rtlCol="0"/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38394A-8ACF-C58D-D3EF-36EC0EC0E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5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7BDBCC8-A756-9216-78EC-43B37A681AD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GB" dirty="0"/>
              <a:t>Load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19405175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Experimental Environment &amp; System Configuration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09DF5-56B4-304A-8777-BB8576005AF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9A912-225F-BE40-9F3E-025552444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93776" y="6356350"/>
            <a:ext cx="4159624" cy="365125"/>
          </a:xfrm>
        </p:spPr>
        <p:txBody>
          <a:bodyPr rtlCol="0"/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6C709-8794-DF4E-A15C-6E648F09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6</a:t>
            </a:fld>
            <a:endParaRPr lang="en-GB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92F5DB79-B5B2-645C-D860-B10C105BD068}"/>
              </a:ext>
            </a:extLst>
          </p:cNvPr>
          <p:cNvSpPr txBox="1">
            <a:spLocks/>
          </p:cNvSpPr>
          <p:nvPr/>
        </p:nvSpPr>
        <p:spPr>
          <a:xfrm>
            <a:off x="1167493" y="2003804"/>
            <a:ext cx="3310378" cy="522514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/>
              <a:t>Hardware &amp; OS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163A5DB-E660-F397-18A7-10626DDAD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615453"/>
            <a:ext cx="3218688" cy="27394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Windows 11 Home (Version 25H2, Build 26200.7623)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AMD </a:t>
            </a:r>
            <a:r>
              <a:rPr lang="en-GB" sz="1800" dirty="0" err="1"/>
              <a:t>Ryzen</a:t>
            </a:r>
            <a:r>
              <a:rPr lang="en-GB" sz="1800" dirty="0"/>
              <a:t> 7 5800X (8-Core Processor)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32GB DDR4 RAM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800" dirty="0"/>
              <a:t>Localhost benchmarking environment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07E79B2A-51BF-4A39-1BE4-3302A9A15605}"/>
              </a:ext>
            </a:extLst>
          </p:cNvPr>
          <p:cNvSpPr txBox="1">
            <a:spLocks/>
          </p:cNvSpPr>
          <p:nvPr/>
        </p:nvSpPr>
        <p:spPr>
          <a:xfrm>
            <a:off x="4683788" y="2003804"/>
            <a:ext cx="3173278" cy="522514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/>
              <a:t>Software Stack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7DBDC9DB-CC41-65C0-67AC-DB3DA5DBB7E7}"/>
              </a:ext>
            </a:extLst>
          </p:cNvPr>
          <p:cNvSpPr txBox="1">
            <a:spLocks/>
          </p:cNvSpPr>
          <p:nvPr/>
        </p:nvSpPr>
        <p:spPr>
          <a:xfrm>
            <a:off x="4683787" y="2615453"/>
            <a:ext cx="3173279" cy="2739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/>
            <a:r>
              <a:rPr lang="en-GB" sz="1800" dirty="0"/>
              <a:t>XAMPP 3.3.0</a:t>
            </a:r>
          </a:p>
          <a:p>
            <a:pPr marL="180000" indent="-180000"/>
            <a:r>
              <a:rPr lang="en-GB" sz="1800" dirty="0"/>
              <a:t>Apache 2.4.58 (Win64)</a:t>
            </a:r>
          </a:p>
          <a:p>
            <a:pPr marL="180000" indent="-180000"/>
            <a:r>
              <a:rPr lang="en-GB" sz="1800" dirty="0"/>
              <a:t>PHP 8.2.12 (Thread Safe)</a:t>
            </a:r>
          </a:p>
          <a:p>
            <a:pPr marL="180000" indent="-180000"/>
            <a:r>
              <a:rPr lang="en-GB" sz="1800" dirty="0"/>
              <a:t>MariaDB 10.4.32 (</a:t>
            </a:r>
            <a:r>
              <a:rPr lang="en-GB" sz="1800" dirty="0" err="1"/>
              <a:t>InnoDB</a:t>
            </a:r>
            <a:r>
              <a:rPr lang="en-GB" sz="1800" dirty="0"/>
              <a:t>, utf8mb4)</a:t>
            </a:r>
          </a:p>
          <a:p>
            <a:pPr marL="180000" indent="-180000"/>
            <a:r>
              <a:rPr lang="en-GB" sz="1800" dirty="0"/>
              <a:t>Composer 2.2.25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CC8B0161-C7C5-D35A-F7DF-124469306C4F}"/>
              </a:ext>
            </a:extLst>
          </p:cNvPr>
          <p:cNvSpPr txBox="1">
            <a:spLocks/>
          </p:cNvSpPr>
          <p:nvPr/>
        </p:nvSpPr>
        <p:spPr>
          <a:xfrm>
            <a:off x="8071004" y="2318212"/>
            <a:ext cx="3173279" cy="273947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500"/>
              </a:spcBef>
            </a:pPr>
            <a:r>
              <a:rPr lang="en-GB" sz="1800" dirty="0" err="1"/>
              <a:t>memory_limit</a:t>
            </a:r>
            <a:r>
              <a:rPr lang="en-GB" sz="1800" dirty="0"/>
              <a:t> = 128M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 err="1"/>
              <a:t>max_execution_time</a:t>
            </a:r>
            <a:r>
              <a:rPr lang="en-GB" sz="1800" dirty="0"/>
              <a:t> = 30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/>
              <a:t>OPcache enabled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 err="1"/>
              <a:t>display_errors</a:t>
            </a:r>
            <a:r>
              <a:rPr lang="en-GB" sz="1800" dirty="0"/>
              <a:t> = Off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/>
              <a:t>Debug mode disabled across all frameworks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/>
              <a:t>Production-equivalent settings applied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/>
              <a:t>No framework-specific performance optimisations</a:t>
            </a:r>
          </a:p>
          <a:p>
            <a:pPr marL="285750" indent="-285750">
              <a:spcBef>
                <a:spcPts val="500"/>
              </a:spcBef>
            </a:pPr>
            <a:r>
              <a:rPr lang="en-GB" sz="1800" dirty="0"/>
              <a:t>Dependencies frozen for entire benchmarking phase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BB10CD7B-8DB7-7D83-99B5-33A0BECD13F8}"/>
              </a:ext>
            </a:extLst>
          </p:cNvPr>
          <p:cNvSpPr txBox="1">
            <a:spLocks/>
          </p:cNvSpPr>
          <p:nvPr/>
        </p:nvSpPr>
        <p:spPr>
          <a:xfrm>
            <a:off x="8071005" y="1706563"/>
            <a:ext cx="3173278" cy="5225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Runtime &amp; Configuration Controls</a:t>
            </a:r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5F36-F64A-7AAE-9AF4-20DD2980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425" y="68809"/>
            <a:ext cx="9353024" cy="985770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Standardised Application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49317-BA22-81F9-76B5-9B5ED2CBD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 dirty="0"/>
              <a:t>26/02/2026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53EC8-9B54-6222-E4E9-911A1D084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 fontScale="92500"/>
          </a:bodyPr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020F7-A410-7449-2612-9C359EC22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7</a:t>
            </a:fld>
            <a:endParaRPr lang="en-GB" noProof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28A0CD-10D5-A475-9AC9-7F4AAE6BA7C2}"/>
              </a:ext>
            </a:extLst>
          </p:cNvPr>
          <p:cNvSpPr/>
          <p:nvPr/>
        </p:nvSpPr>
        <p:spPr>
          <a:xfrm>
            <a:off x="2169437" y="2674977"/>
            <a:ext cx="1052140" cy="40011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Apache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4BB593-994C-94AE-230D-CAE3898C395E}"/>
              </a:ext>
            </a:extLst>
          </p:cNvPr>
          <p:cNvSpPr/>
          <p:nvPr/>
        </p:nvSpPr>
        <p:spPr>
          <a:xfrm>
            <a:off x="3458151" y="2621429"/>
            <a:ext cx="1400176" cy="507206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Framework Router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80DC31-558F-CCC1-A92F-C1EDC2449DE9}"/>
              </a:ext>
            </a:extLst>
          </p:cNvPr>
          <p:cNvSpPr/>
          <p:nvPr/>
        </p:nvSpPr>
        <p:spPr>
          <a:xfrm>
            <a:off x="5094901" y="2674977"/>
            <a:ext cx="1215598" cy="40011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Controller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D95BF7-4CCB-1DA0-B5E4-622BE1F6E8AD}"/>
              </a:ext>
            </a:extLst>
          </p:cNvPr>
          <p:cNvSpPr/>
          <p:nvPr/>
        </p:nvSpPr>
        <p:spPr>
          <a:xfrm>
            <a:off x="6519566" y="2674977"/>
            <a:ext cx="1400176" cy="40011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Model / ORM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FE165F28-C06F-181A-361E-0139DB40696D}"/>
              </a:ext>
            </a:extLst>
          </p:cNvPr>
          <p:cNvSpPr/>
          <p:nvPr/>
        </p:nvSpPr>
        <p:spPr>
          <a:xfrm>
            <a:off x="8145750" y="2443230"/>
            <a:ext cx="1400175" cy="985770"/>
          </a:xfrm>
          <a:prstGeom prst="can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MariaDB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B1A04DF-54DC-26ED-4C84-D3EABF299FE9}"/>
              </a:ext>
            </a:extLst>
          </p:cNvPr>
          <p:cNvGrpSpPr/>
          <p:nvPr/>
        </p:nvGrpSpPr>
        <p:grpSpPr>
          <a:xfrm>
            <a:off x="9690971" y="2442146"/>
            <a:ext cx="2892636" cy="969023"/>
            <a:chOff x="5311564" y="3285509"/>
            <a:chExt cx="2892636" cy="96902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6044B8C-7348-D2D7-4AF1-FD8E10998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311564" y="3285509"/>
              <a:ext cx="981212" cy="9690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FE134F-F0A2-B1DA-5067-DF35A66519B2}"/>
                </a:ext>
              </a:extLst>
            </p:cNvPr>
            <p:cNvSpPr txBox="1"/>
            <p:nvPr/>
          </p:nvSpPr>
          <p:spPr>
            <a:xfrm>
              <a:off x="6237660" y="3416077"/>
              <a:ext cx="19665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accent5">
                      <a:lumMod val="50000"/>
                    </a:schemeClr>
                  </a:solidFill>
                </a:rPr>
                <a:t>JSON</a:t>
              </a:r>
            </a:p>
            <a:p>
              <a:r>
                <a:rPr lang="en-GB" sz="2000" dirty="0">
                  <a:solidFill>
                    <a:schemeClr val="accent5">
                      <a:lumMod val="50000"/>
                    </a:schemeClr>
                  </a:solidFill>
                </a:rPr>
                <a:t>Response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893B54-A816-52CC-3175-22805A469D76}"/>
              </a:ext>
            </a:extLst>
          </p:cNvPr>
          <p:cNvGrpSpPr/>
          <p:nvPr/>
        </p:nvGrpSpPr>
        <p:grpSpPr>
          <a:xfrm>
            <a:off x="192256" y="2451604"/>
            <a:ext cx="2939978" cy="816078"/>
            <a:chOff x="1115615" y="1864770"/>
            <a:chExt cx="2939978" cy="8160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3E5E538-50B9-AD8F-6B11-FC43EC8BABCA}"/>
                </a:ext>
              </a:extLst>
            </p:cNvPr>
            <p:cNvGrpSpPr/>
            <p:nvPr/>
          </p:nvGrpSpPr>
          <p:grpSpPr>
            <a:xfrm>
              <a:off x="1115615" y="1864770"/>
              <a:ext cx="2939978" cy="816078"/>
              <a:chOff x="1167492" y="1533085"/>
              <a:chExt cx="2939978" cy="81607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32E91-581C-CD86-2B57-44565A6EB2EF}"/>
                  </a:ext>
                </a:extLst>
              </p:cNvPr>
              <p:cNvSpPr/>
              <p:nvPr/>
            </p:nvSpPr>
            <p:spPr>
              <a:xfrm>
                <a:off x="1167492" y="1533085"/>
                <a:ext cx="904568" cy="81607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2F7CD8-E4B8-8AE2-CE24-660D8B456AA3}"/>
                  </a:ext>
                </a:extLst>
              </p:cNvPr>
              <p:cNvSpPr txBox="1"/>
              <p:nvPr/>
            </p:nvSpPr>
            <p:spPr>
              <a:xfrm>
                <a:off x="2140930" y="1756458"/>
                <a:ext cx="19665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5">
                        <a:lumMod val="50000"/>
                      </a:schemeClr>
                    </a:solidFill>
                  </a:rPr>
                  <a:t>Client</a:t>
                </a: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DC1DA28-AAC8-5FE1-EF51-92B57CE19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5014" y="1909924"/>
              <a:ext cx="725770" cy="725770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0D84F65-50B5-DB5C-51BD-6B8C4251E4F0}"/>
              </a:ext>
            </a:extLst>
          </p:cNvPr>
          <p:cNvCxnSpPr/>
          <p:nvPr/>
        </p:nvCxnSpPr>
        <p:spPr>
          <a:xfrm>
            <a:off x="1916906" y="2876551"/>
            <a:ext cx="23109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D0F2CE-107A-B9DF-E435-9FCEA6364423}"/>
              </a:ext>
            </a:extLst>
          </p:cNvPr>
          <p:cNvCxnSpPr/>
          <p:nvPr/>
        </p:nvCxnSpPr>
        <p:spPr>
          <a:xfrm>
            <a:off x="3227052" y="2871788"/>
            <a:ext cx="23109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4C0209-4644-AC82-FD54-A2E59892EDD1}"/>
              </a:ext>
            </a:extLst>
          </p:cNvPr>
          <p:cNvCxnSpPr/>
          <p:nvPr/>
        </p:nvCxnSpPr>
        <p:spPr>
          <a:xfrm>
            <a:off x="4863802" y="2876551"/>
            <a:ext cx="23109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486BFE-10BC-55B0-A677-4AB3C901D2DD}"/>
              </a:ext>
            </a:extLst>
          </p:cNvPr>
          <p:cNvCxnSpPr/>
          <p:nvPr/>
        </p:nvCxnSpPr>
        <p:spPr>
          <a:xfrm>
            <a:off x="6288467" y="2871788"/>
            <a:ext cx="23109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81985D3-C1E1-6341-EB51-1BA0C80D0C29}"/>
              </a:ext>
            </a:extLst>
          </p:cNvPr>
          <p:cNvCxnSpPr/>
          <p:nvPr/>
        </p:nvCxnSpPr>
        <p:spPr>
          <a:xfrm>
            <a:off x="7914651" y="2876551"/>
            <a:ext cx="23109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906459-3DC2-B07D-D6CE-EE1D2FDAF8A4}"/>
              </a:ext>
            </a:extLst>
          </p:cNvPr>
          <p:cNvCxnSpPr/>
          <p:nvPr/>
        </p:nvCxnSpPr>
        <p:spPr>
          <a:xfrm>
            <a:off x="9545925" y="2886076"/>
            <a:ext cx="23109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75819B99-C39C-A8AF-3B85-F6EC5C384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8054" y="1473514"/>
            <a:ext cx="431550" cy="134615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D55FE48-90BE-98F4-ECFB-3E3470A70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489756" y="1473514"/>
            <a:ext cx="431550" cy="13461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78A6C8B-43FE-0B43-E495-F5200C98F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205147" y="724124"/>
            <a:ext cx="986444" cy="307705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1D2030B-1D2C-22A7-2BE2-60F8F0352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590982" y="1482763"/>
            <a:ext cx="431550" cy="134615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1D663C0-040B-1CB0-1735-71D2A5A97391}"/>
              </a:ext>
            </a:extLst>
          </p:cNvPr>
          <p:cNvSpPr txBox="1"/>
          <p:nvPr/>
        </p:nvSpPr>
        <p:spPr>
          <a:xfrm>
            <a:off x="609105" y="1404867"/>
            <a:ext cx="1346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Presentation Layer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D6F538-CEBC-627F-F90A-6DFB065BBCBC}"/>
              </a:ext>
            </a:extLst>
          </p:cNvPr>
          <p:cNvSpPr txBox="1"/>
          <p:nvPr/>
        </p:nvSpPr>
        <p:spPr>
          <a:xfrm>
            <a:off x="2039091" y="1395302"/>
            <a:ext cx="1346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Web Server Layer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AD47B2-A975-F886-65AC-BF20B3489114}"/>
              </a:ext>
            </a:extLst>
          </p:cNvPr>
          <p:cNvSpPr txBox="1"/>
          <p:nvPr/>
        </p:nvSpPr>
        <p:spPr>
          <a:xfrm>
            <a:off x="4782338" y="1479475"/>
            <a:ext cx="19353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Application Layer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677A63-8C47-0A08-5009-940428046CB4}"/>
              </a:ext>
            </a:extLst>
          </p:cNvPr>
          <p:cNvSpPr txBox="1"/>
          <p:nvPr/>
        </p:nvSpPr>
        <p:spPr>
          <a:xfrm>
            <a:off x="7839106" y="1592261"/>
            <a:ext cx="19353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Data Layer</a:t>
            </a:r>
          </a:p>
        </p:txBody>
      </p:sp>
      <p:sp>
        <p:nvSpPr>
          <p:cNvPr id="1030" name="Content Placeholder 3">
            <a:extLst>
              <a:ext uri="{FF2B5EF4-FFF2-40B4-BE49-F238E27FC236}">
                <a16:creationId xmlns:a16="http://schemas.microsoft.com/office/drawing/2014/main" id="{3B2707E6-8BFF-6A43-2E94-F454A835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05" y="3708571"/>
            <a:ext cx="3218688" cy="273947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800" b="1" dirty="0"/>
              <a:t>Request Processing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Framework-level routing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Middleware stack traversal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Service container resolution overhead</a:t>
            </a:r>
          </a:p>
        </p:txBody>
      </p:sp>
      <p:sp>
        <p:nvSpPr>
          <p:cNvPr id="1032" name="Content Placeholder 4">
            <a:extLst>
              <a:ext uri="{FF2B5EF4-FFF2-40B4-BE49-F238E27FC236}">
                <a16:creationId xmlns:a16="http://schemas.microsoft.com/office/drawing/2014/main" id="{F8CAF617-1537-DED9-E29C-3AFE264034BA}"/>
              </a:ext>
            </a:extLst>
          </p:cNvPr>
          <p:cNvSpPr txBox="1">
            <a:spLocks/>
          </p:cNvSpPr>
          <p:nvPr/>
        </p:nvSpPr>
        <p:spPr>
          <a:xfrm>
            <a:off x="4213516" y="3703033"/>
            <a:ext cx="3173279" cy="2739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/>
              <a:t>Data Abstraction Overhead</a:t>
            </a:r>
          </a:p>
          <a:p>
            <a:r>
              <a:rPr lang="en-GB" sz="1600" dirty="0"/>
              <a:t>ORM abstraction layer execution</a:t>
            </a:r>
          </a:p>
          <a:p>
            <a:r>
              <a:rPr lang="en-GB" sz="1600" dirty="0"/>
              <a:t>Query builder -&gt; SQL generation</a:t>
            </a:r>
          </a:p>
          <a:p>
            <a:r>
              <a:rPr lang="en-GB" sz="1600" dirty="0"/>
              <a:t>Connection pooling via PDO</a:t>
            </a:r>
          </a:p>
        </p:txBody>
      </p:sp>
      <p:sp>
        <p:nvSpPr>
          <p:cNvPr id="1033" name="Content Placeholder 10">
            <a:extLst>
              <a:ext uri="{FF2B5EF4-FFF2-40B4-BE49-F238E27FC236}">
                <a16:creationId xmlns:a16="http://schemas.microsoft.com/office/drawing/2014/main" id="{54DC29F0-5349-F4CE-CBB9-1524F29C2EC3}"/>
              </a:ext>
            </a:extLst>
          </p:cNvPr>
          <p:cNvSpPr txBox="1">
            <a:spLocks/>
          </p:cNvSpPr>
          <p:nvPr/>
        </p:nvSpPr>
        <p:spPr>
          <a:xfrm>
            <a:off x="7772518" y="3707896"/>
            <a:ext cx="3419357" cy="273947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/>
              <a:t>Response Serialisation Overhead</a:t>
            </a:r>
          </a:p>
          <a:p>
            <a:r>
              <a:rPr lang="en-GB" sz="1600" dirty="0"/>
              <a:t>Model hydration / object mapping</a:t>
            </a:r>
          </a:p>
          <a:p>
            <a:r>
              <a:rPr lang="en-GB" sz="1600" dirty="0"/>
              <a:t>JSON serialisation</a:t>
            </a:r>
          </a:p>
          <a:p>
            <a:r>
              <a:rPr lang="en-GB" sz="1600" dirty="0"/>
              <a:t>HTTP status + header composition</a:t>
            </a:r>
          </a:p>
        </p:txBody>
      </p:sp>
    </p:spTree>
    <p:extLst>
      <p:ext uri="{BB962C8B-B14F-4D97-AF65-F5344CB8AC3E}">
        <p14:creationId xmlns:p14="http://schemas.microsoft.com/office/powerpoint/2010/main" val="2918336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rtlCol="0"/>
          <a:lstStyle/>
          <a:p>
            <a:pPr rtl="0"/>
            <a:r>
              <a:rPr lang="en-GB" sz="4000" dirty="0"/>
              <a:t>Scenario 1 – Average Response Time Scaling (1-100 Users)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7F12A-7304-B447-BEB8-A99EA800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90246-DFB2-A340-AADC-E85D28C3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5" y="6356350"/>
            <a:ext cx="4175153" cy="365125"/>
          </a:xfrm>
        </p:spPr>
        <p:txBody>
          <a:bodyPr rtlCol="0"/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CCF58-9B83-4A4F-8CA9-3D9C9BB7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24CB0-824A-4049-B0B3-81B9D5367F8E}"/>
              </a:ext>
            </a:extLst>
          </p:cNvPr>
          <p:cNvSpPr txBox="1"/>
          <p:nvPr/>
        </p:nvSpPr>
        <p:spPr>
          <a:xfrm>
            <a:off x="5809129" y="1824442"/>
            <a:ext cx="3845859" cy="4167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Key Findings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Yii achieved the lowest mean response time </a:t>
            </a:r>
            <a:r>
              <a:rPr lang="en-GB" sz="1600" dirty="0"/>
              <a:t>decreasing from 67ms (1 user) to 53ms (100 users).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CodeIgniter reduced from 120ms to 81ms </a:t>
            </a:r>
            <a:r>
              <a:rPr lang="en-GB" sz="1600" dirty="0"/>
              <a:t>under scaling, demonstrating efficient request handling.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Laravel</a:t>
            </a:r>
            <a:r>
              <a:rPr lang="en-GB" sz="1600" dirty="0"/>
              <a:t> </a:t>
            </a:r>
            <a:r>
              <a:rPr lang="en-GB" sz="1600" b="1" dirty="0"/>
              <a:t>decreased from 175ms to 151ms</a:t>
            </a:r>
            <a:r>
              <a:rPr lang="en-GB" sz="1600" dirty="0"/>
              <a:t>,</a:t>
            </a:r>
            <a:r>
              <a:rPr lang="en-GB" sz="1600" b="1" dirty="0"/>
              <a:t> </a:t>
            </a:r>
            <a:r>
              <a:rPr lang="en-GB" sz="1600" dirty="0"/>
              <a:t>but maintained the highest baseline latency.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Symfony</a:t>
            </a:r>
            <a:r>
              <a:rPr lang="en-GB" sz="1600" dirty="0"/>
              <a:t> </a:t>
            </a:r>
            <a:r>
              <a:rPr lang="en-GB" sz="1600" b="1" dirty="0"/>
              <a:t>remained between 120-125ms </a:t>
            </a:r>
            <a:r>
              <a:rPr lang="en-GB" sz="1600" dirty="0"/>
              <a:t>under scaling conditions.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No non-linear or exponential degradation observed </a:t>
            </a:r>
            <a:r>
              <a:rPr lang="en-GB" sz="1600" dirty="0"/>
              <a:t>up to 100 concurrent users.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47A17-22A2-5EDF-24A4-200BF0976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0" y="2286001"/>
            <a:ext cx="4763239" cy="30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9028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4D3D1-548B-85C8-5A03-30D3CA76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88E3-4383-146C-729D-FB8CB46E6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rtlCol="0"/>
          <a:lstStyle/>
          <a:p>
            <a:pPr rtl="0"/>
            <a:r>
              <a:rPr lang="en-GB" sz="4000" dirty="0"/>
              <a:t>Scenario 1 – Tail Latency (95</a:t>
            </a:r>
            <a:r>
              <a:rPr lang="en-GB" sz="4000" baseline="30000" dirty="0"/>
              <a:t>th</a:t>
            </a:r>
            <a:r>
              <a:rPr lang="en-GB" sz="4000" dirty="0"/>
              <a:t> Percentile)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A8127-76A3-3E06-230A-6EC145BE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/>
          <a:lstStyle/>
          <a:p>
            <a:pPr rtl="0"/>
            <a:r>
              <a:rPr lang="en-GB" dirty="0"/>
              <a:t>26/02/2026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480ED-C4F6-AE0A-C3DE-4D854753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5" y="6356350"/>
            <a:ext cx="4175153" cy="365125"/>
          </a:xfrm>
        </p:spPr>
        <p:txBody>
          <a:bodyPr rtlCol="0"/>
          <a:lstStyle/>
          <a:p>
            <a:r>
              <a:rPr lang="en-GB" dirty="0"/>
              <a:t>Comparative Performance Analysis of PHP MVC Frameworks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5AEAE-80BD-43F8-592E-40264B9C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ECE16-38B2-C308-6AEC-17C556F65AD3}"/>
              </a:ext>
            </a:extLst>
          </p:cNvPr>
          <p:cNvSpPr txBox="1"/>
          <p:nvPr/>
        </p:nvSpPr>
        <p:spPr>
          <a:xfrm>
            <a:off x="5809129" y="1824442"/>
            <a:ext cx="3845859" cy="367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Key Findings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Laravel </a:t>
            </a:r>
            <a:r>
              <a:rPr lang="en-GB" sz="1600" dirty="0"/>
              <a:t>peaked at 201ms P95 under 10-user concurrency, indicating higher tail variability.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Symfony </a:t>
            </a:r>
            <a:r>
              <a:rPr lang="en-GB" sz="1600" dirty="0"/>
              <a:t>maintained consistent but elevated P95 values (137-138ms).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CodeIgniter </a:t>
            </a:r>
            <a:r>
              <a:rPr lang="en-GB" sz="1600" dirty="0"/>
              <a:t>stabilised between 94-98ms P95 under scaling.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b="1" dirty="0"/>
              <a:t>Yii</a:t>
            </a:r>
            <a:r>
              <a:rPr lang="en-GB" sz="1600" dirty="0"/>
              <a:t> maintained the lowest and most stable P95 (65-69ms).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Stable P95 suggests predictable request pipeline performance under load.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C6DF1-7518-5C88-2B44-9FD4739BCA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430" y="2286001"/>
            <a:ext cx="4619964" cy="30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959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8CE9D-2D08-C24F-6750-ED03B866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8A1F-DDE1-CCE9-4AD1-BA7F9447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en-GB" sz="4400" dirty="0"/>
              <a:t>Scenario 1 – Throughput Scaling Behaviour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4A3D4-CB01-5F8F-40F6-356F69F4E94A}"/>
              </a:ext>
            </a:extLst>
          </p:cNvPr>
          <p:cNvSpPr txBox="1"/>
          <p:nvPr/>
        </p:nvSpPr>
        <p:spPr>
          <a:xfrm>
            <a:off x="1167493" y="2087561"/>
            <a:ext cx="4794341" cy="3366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/>
              <a:t>Key Findings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At single-user load, </a:t>
            </a:r>
            <a:r>
              <a:rPr lang="en-US" sz="1600" b="1" dirty="0"/>
              <a:t>Yii achieved the highest throughput</a:t>
            </a:r>
            <a:r>
              <a:rPr lang="en-US" sz="1600" dirty="0"/>
              <a:t> (14.9 req/min), compared to Laravel (5.7 req/min).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kern="1200" dirty="0"/>
              <a:t>Under 10+ concurrent users, </a:t>
            </a:r>
            <a:r>
              <a:rPr lang="en-US" sz="1600" b="1" kern="1200" dirty="0"/>
              <a:t>throughput converged across frameworks</a:t>
            </a:r>
            <a:r>
              <a:rPr lang="en-US" sz="1600" kern="1200" dirty="0"/>
              <a:t> (~1.0-1.1 req/min).</a:t>
            </a:r>
            <a:endParaRPr lang="en-US" sz="1600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/>
              <a:t>Similar throughput patterns under scaling </a:t>
            </a:r>
            <a:r>
              <a:rPr lang="en-US" sz="1600" kern="1200" dirty="0"/>
              <a:t>suggest </a:t>
            </a:r>
            <a:r>
              <a:rPr lang="en-US" sz="1600" b="1" kern="1200" dirty="0"/>
              <a:t>environmental saturation </a:t>
            </a:r>
            <a:r>
              <a:rPr lang="en-US" sz="1600" kern="1200" dirty="0"/>
              <a:t>rather than framework-specific collapse.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framework demonstrated exponential throughput degradation.</a:t>
            </a:r>
            <a:endParaRPr lang="en-US" sz="1400" kern="1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F2A23-8819-5BEC-A2CC-29EE3E1FE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26/02/2026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F0BB9-D2F7-8550-DED0-6226AE38A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100" kern="1200">
                <a:latin typeface="+mn-lt"/>
                <a:ea typeface="+mn-ea"/>
                <a:cs typeface="+mn-cs"/>
              </a:rPr>
              <a:t>Comparative Performance Analysis of PHP MVC Frameworks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9D5DD-435C-7227-DBFB-0C503FA00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16B886-B3FA-45CF-B772-46635024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4131"/>
          <a:stretch>
            <a:fillRect/>
          </a:stretch>
        </p:blipFill>
        <p:spPr>
          <a:xfrm>
            <a:off x="6152334" y="2087561"/>
            <a:ext cx="4794341" cy="30712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912875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885A-1DD1-FAB9-574A-A07BEAF7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12D2-BCDF-9466-0831-F09098F0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en-GB" sz="4400" dirty="0"/>
              <a:t>Scenario 1 – Memory Efficiency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890A5-4A5E-8719-4529-42371AA08760}"/>
              </a:ext>
            </a:extLst>
          </p:cNvPr>
          <p:cNvSpPr txBox="1"/>
          <p:nvPr/>
        </p:nvSpPr>
        <p:spPr>
          <a:xfrm>
            <a:off x="6152334" y="2087561"/>
            <a:ext cx="4794341" cy="3366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b="1" kern="1200" dirty="0"/>
              <a:t>Key Findings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/>
              <a:t>Laravel </a:t>
            </a:r>
            <a:r>
              <a:rPr lang="en-US" sz="1600" kern="1200" dirty="0"/>
              <a:t>consumed the highest memory footprint, increasing from ~35MB to ~38MB under scaling.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/>
              <a:t>Yii</a:t>
            </a:r>
            <a:r>
              <a:rPr lang="en-US" sz="1600" kern="1200" dirty="0"/>
              <a:t> maintained the lowest memory usage (~29~30MB) across all concurrency levels.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/>
              <a:t>CodeIgniter</a:t>
            </a:r>
            <a:r>
              <a:rPr lang="en-US" sz="1600" kern="1200" dirty="0"/>
              <a:t> remained stable around 30-32MB, demonstrating lightweight execution.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kern="1200" dirty="0"/>
              <a:t>Symfony exhibited moderate memory overhead (~31~33MB).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Memory growth remained linear, with no abnormal allocation spikes.</a:t>
            </a:r>
            <a:endParaRPr lang="en-US" sz="1600" kern="1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5286D-ADC0-510B-6EAD-11DAA06C0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26/02/2026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55395-B7B9-5FD9-EA42-86EEAD59D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100" kern="1200">
                <a:latin typeface="+mn-lt"/>
                <a:ea typeface="+mn-ea"/>
                <a:cs typeface="+mn-cs"/>
              </a:rPr>
              <a:t>Comparative Performance Analysis of PHP MVC Frameworks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D8EDF-BE83-B0A5-5C04-C13B0094D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0D2966-EEA3-4FEA-8D5D-88F7E885E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r="6824" b="-1"/>
          <a:stretch>
            <a:fillRect/>
          </a:stretch>
        </p:blipFill>
        <p:spPr>
          <a:xfrm>
            <a:off x="1167493" y="2087561"/>
            <a:ext cx="4794341" cy="3366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597446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790D-A2D6-0F80-66BB-4FA432A2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1BDB-7871-62B8-65D0-45C8A3C8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rmAutofit/>
          </a:bodyPr>
          <a:lstStyle/>
          <a:p>
            <a:pPr rtl="0"/>
            <a:r>
              <a:rPr lang="en-GB" sz="4400" dirty="0"/>
              <a:t>Scenario 1 – Comparative Performance 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4A13D-8171-C4A7-BCAB-71B3A9BE1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/>
              <a:t>26/02/2026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C976D-9974-1FAA-9378-C179877D0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100" kern="1200"/>
              <a:t>Comparative Performance Analysis of PHP MVC Frameworks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F4DEE-28E4-0F18-EC45-1E82D2E88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3064A7-5268-2864-8AD2-1E2657C93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64013"/>
              </p:ext>
            </p:extLst>
          </p:nvPr>
        </p:nvGraphicFramePr>
        <p:xfrm>
          <a:off x="1206407" y="1909858"/>
          <a:ext cx="10425153" cy="3559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873">
                  <a:extLst>
                    <a:ext uri="{9D8B030D-6E8A-4147-A177-3AD203B41FA5}">
                      <a16:colId xmlns:a16="http://schemas.microsoft.com/office/drawing/2014/main" val="3374880221"/>
                    </a:ext>
                  </a:extLst>
                </a:gridCol>
                <a:gridCol w="2090361">
                  <a:extLst>
                    <a:ext uri="{9D8B030D-6E8A-4147-A177-3AD203B41FA5}">
                      <a16:colId xmlns:a16="http://schemas.microsoft.com/office/drawing/2014/main" val="432891446"/>
                    </a:ext>
                  </a:extLst>
                </a:gridCol>
                <a:gridCol w="2090361">
                  <a:extLst>
                    <a:ext uri="{9D8B030D-6E8A-4147-A177-3AD203B41FA5}">
                      <a16:colId xmlns:a16="http://schemas.microsoft.com/office/drawing/2014/main" val="3128170706"/>
                    </a:ext>
                  </a:extLst>
                </a:gridCol>
                <a:gridCol w="2261805">
                  <a:extLst>
                    <a:ext uri="{9D8B030D-6E8A-4147-A177-3AD203B41FA5}">
                      <a16:colId xmlns:a16="http://schemas.microsoft.com/office/drawing/2014/main" val="1598507857"/>
                    </a:ext>
                  </a:extLst>
                </a:gridCol>
                <a:gridCol w="1777753">
                  <a:extLst>
                    <a:ext uri="{9D8B030D-6E8A-4147-A177-3AD203B41FA5}">
                      <a16:colId xmlns:a16="http://schemas.microsoft.com/office/drawing/2014/main" val="1409708924"/>
                    </a:ext>
                  </a:extLst>
                </a:gridCol>
              </a:tblGrid>
              <a:tr h="682197">
                <a:tc>
                  <a:txBody>
                    <a:bodyPr/>
                    <a:lstStyle/>
                    <a:p>
                      <a:r>
                        <a:rPr lang="en-GB" sz="2000" dirty="0"/>
                        <a:t>Framework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2000" dirty="0" err="1"/>
                        <a:t>Avg</a:t>
                      </a:r>
                      <a:r>
                        <a:rPr lang="en-GB" sz="2000" dirty="0"/>
                        <a:t> RT @100 Users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P95 RT @10 Users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Memory @ 100 Users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Overall Profile</a:t>
                      </a:r>
                    </a:p>
                  </a:txBody>
                  <a:tcPr marL="105508" marR="105508" marT="52754" marB="52754"/>
                </a:tc>
                <a:extLst>
                  <a:ext uri="{0D108BD9-81ED-4DB2-BD59-A6C34878D82A}">
                    <a16:rowId xmlns:a16="http://schemas.microsoft.com/office/drawing/2014/main" val="3723827938"/>
                  </a:ext>
                </a:extLst>
              </a:tr>
              <a:tr h="708805">
                <a:tc>
                  <a:txBody>
                    <a:bodyPr/>
                    <a:lstStyle/>
                    <a:p>
                      <a:r>
                        <a:rPr lang="en-GB" sz="1800" b="1" dirty="0"/>
                        <a:t>Laravel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151ms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201ms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~38MB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Feature-rich, higher overhead</a:t>
                      </a:r>
                    </a:p>
                  </a:txBody>
                  <a:tcPr marL="105508" marR="105508" marT="52754" marB="52754"/>
                </a:tc>
                <a:extLst>
                  <a:ext uri="{0D108BD9-81ED-4DB2-BD59-A6C34878D82A}">
                    <a16:rowId xmlns:a16="http://schemas.microsoft.com/office/drawing/2014/main" val="3327121830"/>
                  </a:ext>
                </a:extLst>
              </a:tr>
              <a:tr h="798506">
                <a:tc>
                  <a:txBody>
                    <a:bodyPr/>
                    <a:lstStyle/>
                    <a:p>
                      <a:r>
                        <a:rPr lang="en-GB" sz="1800" b="1" dirty="0"/>
                        <a:t>Symfony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125ms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137ms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~33MB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Structured, moderate overhead</a:t>
                      </a:r>
                    </a:p>
                  </a:txBody>
                  <a:tcPr marL="105508" marR="105508" marT="52754" marB="52754"/>
                </a:tc>
                <a:extLst>
                  <a:ext uri="{0D108BD9-81ED-4DB2-BD59-A6C34878D82A}">
                    <a16:rowId xmlns:a16="http://schemas.microsoft.com/office/drawing/2014/main" val="3847366681"/>
                  </a:ext>
                </a:extLst>
              </a:tr>
              <a:tr h="589740">
                <a:tc>
                  <a:txBody>
                    <a:bodyPr/>
                    <a:lstStyle/>
                    <a:p>
                      <a:r>
                        <a:rPr lang="en-GB" sz="1800" b="1" dirty="0"/>
                        <a:t>CodeIgniter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81ms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95ms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~32MB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Lightweight</a:t>
                      </a:r>
                    </a:p>
                  </a:txBody>
                  <a:tcPr marL="105508" marR="105508" marT="52754" marB="52754"/>
                </a:tc>
                <a:extLst>
                  <a:ext uri="{0D108BD9-81ED-4DB2-BD59-A6C34878D82A}">
                    <a16:rowId xmlns:a16="http://schemas.microsoft.com/office/drawing/2014/main" val="463455155"/>
                  </a:ext>
                </a:extLst>
              </a:tr>
              <a:tr h="708805">
                <a:tc>
                  <a:txBody>
                    <a:bodyPr/>
                    <a:lstStyle/>
                    <a:p>
                      <a:r>
                        <a:rPr lang="en-GB" sz="1800" b="1" dirty="0"/>
                        <a:t>Yii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53ms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65ms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~30MB</a:t>
                      </a:r>
                    </a:p>
                  </a:txBody>
                  <a:tcPr marL="105508" marR="105508" marT="52754" marB="52754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Balanced, lowest overhead</a:t>
                      </a:r>
                    </a:p>
                  </a:txBody>
                  <a:tcPr marL="105508" marR="105508" marT="52754" marB="52754"/>
                </a:tc>
                <a:extLst>
                  <a:ext uri="{0D108BD9-81ED-4DB2-BD59-A6C34878D82A}">
                    <a16:rowId xmlns:a16="http://schemas.microsoft.com/office/drawing/2014/main" val="36498066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F5A4E85-0706-8115-3A52-791696678BF7}"/>
              </a:ext>
            </a:extLst>
          </p:cNvPr>
          <p:cNvSpPr txBox="1"/>
          <p:nvPr/>
        </p:nvSpPr>
        <p:spPr>
          <a:xfrm>
            <a:off x="1167492" y="5495203"/>
            <a:ext cx="1042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Under controlled read-heavy conditions, </a:t>
            </a:r>
            <a:r>
              <a:rPr lang="en-GB" b="1" dirty="0"/>
              <a:t>Yii and CodeIgniter</a:t>
            </a:r>
            <a:r>
              <a:rPr lang="en-GB" dirty="0"/>
              <a:t> </a:t>
            </a:r>
            <a:r>
              <a:rPr lang="en-GB" b="1" dirty="0"/>
              <a:t>demonstrated substantially lower latency and memory overhead than Laravel and Symfony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6776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2CF2-DE10-30C1-6BA7-510D3CCD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54B3-2FA0-15FB-0058-ADE4D0FF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70429"/>
          </a:xfrm>
        </p:spPr>
        <p:txBody>
          <a:bodyPr rtlCol="0"/>
          <a:lstStyle/>
          <a:p>
            <a:pPr rtl="0"/>
            <a:r>
              <a:rPr lang="en-GB" sz="3600" dirty="0"/>
              <a:t>Architectural Factors Influencing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44A0-2AAF-B32C-65FE-86E677CE7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604398"/>
            <a:ext cx="9779182" cy="409715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sz="1900" b="1" dirty="0"/>
              <a:t>Middleware &amp; Request Pipeline Depth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Laravel and Symfony implement layered middleware stacks and deeper request pipelines.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Additional traversal and resolution steps increase baseline latency.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CodeIgniter and Yii follow a more direct execution path with fewer abstraction layers.</a:t>
            </a:r>
          </a:p>
          <a:p>
            <a:pPr rtl="0">
              <a:spcBef>
                <a:spcPts val="1500"/>
              </a:spcBef>
            </a:pPr>
            <a:r>
              <a:rPr lang="en-GB" sz="1900" b="1" dirty="0"/>
              <a:t>Service Container &amp; Dependency Resolution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Dynamic dependency injection in Laravel and Symfony introduces runtime resolution overhead.</a:t>
            </a:r>
          </a:p>
          <a:p>
            <a:pPr rtl="0">
              <a:spcBef>
                <a:spcPts val="1500"/>
              </a:spcBef>
            </a:pPr>
            <a:r>
              <a:rPr lang="en-GB" sz="1900" b="1" dirty="0"/>
              <a:t>ORM Abstraction Overhead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Eloquent (Laravel) and Doctrine-style ORM patterns introduce abstraction cost during query execution.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CodeIgniter and Yii demonstrated lower overhead in equivalent CRUD operations.</a:t>
            </a:r>
          </a:p>
          <a:p>
            <a:pPr rtl="0">
              <a:spcBef>
                <a:spcPts val="1500"/>
              </a:spcBef>
            </a:pPr>
            <a:r>
              <a:rPr lang="en-GB" sz="1900" b="1" dirty="0"/>
              <a:t>Caching and Lazy Loading Mechanisms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Yii’s lazy loading and internal optimisations likely contributed to improved latency stability.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Reduced unnecessary object instantiation lowers memory footprint.</a:t>
            </a:r>
          </a:p>
          <a:p>
            <a:pPr rtl="0">
              <a:spcBef>
                <a:spcPts val="1500"/>
              </a:spcBef>
            </a:pPr>
            <a:r>
              <a:rPr lang="en-GB" sz="1900" b="1" dirty="0"/>
              <a:t>Framework Philosophy Trade-Offs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Feature-rich frameworks prioritise extensibility and maintainability.</a:t>
            </a:r>
          </a:p>
          <a:p>
            <a:pPr marL="285750" indent="-285750" rtl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600" dirty="0"/>
              <a:t>Lightweight frameworks prioritise execution efficiency and lower runtime overhead.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F6EB-4198-6EE9-EFB7-E9674305C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en-GB"/>
              <a:t>26/02/2026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29629-08F0-37F7-D418-2C5E89DA7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39135" y="6356350"/>
            <a:ext cx="4314265" cy="365125"/>
          </a:xfrm>
        </p:spPr>
        <p:txBody>
          <a:bodyPr rtlCol="0"/>
          <a:lstStyle/>
          <a:p>
            <a:pPr rtl="0"/>
            <a:r>
              <a:rPr lang="en-GB"/>
              <a:t>Comparative Performance Analysis of PHP MVC Frameworks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64B2-8855-2A48-7A6F-2AE9440FA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983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FB63-2E45-07CC-52DB-53C42115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/>
          </a:bodyPr>
          <a:lstStyle/>
          <a:p>
            <a:r>
              <a:rPr lang="en-GB" sz="4400"/>
              <a:t>Qualitative Developer Experience Comparison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C77A6-F066-502D-5F36-9311F7B5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4794341" cy="388374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300" b="1" dirty="0"/>
              <a:t>Implementation Workflow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Official Composer distributions used for all frameworks.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Projects structured within unified </a:t>
            </a:r>
            <a:r>
              <a:rPr lang="en-US" sz="1300" b="1" dirty="0"/>
              <a:t>/apps </a:t>
            </a:r>
            <a:r>
              <a:rPr lang="en-US" sz="1300" dirty="0"/>
              <a:t>directory inside single Git repository.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Identical CRUD logic implemented using each framework’s native MVC conventions.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lang="en-US" sz="1300" b="1" dirty="0"/>
              <a:t>Schema &amp; Data Consistency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Single shared MariaDB schema definition.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Identical table structure, indexes, and seed dataset applied across all frameworks.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No framework-specific schema extensions introduced.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lang="en-US" sz="1300" b="1" dirty="0"/>
              <a:t>Operational Observations</a:t>
            </a:r>
          </a:p>
          <a:p>
            <a:pPr marL="285750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Setup complexity comparable across frameworks.</a:t>
            </a:r>
          </a:p>
          <a:p>
            <a:pPr marL="285750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Primary differences emerged at architectural runtime level, not installation stage.</a:t>
            </a:r>
          </a:p>
          <a:p>
            <a:pPr marL="285750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Variations in developer ergonomics (CLI tooling, configuration verbosity, ORM abstraction depth).</a:t>
            </a:r>
          </a:p>
          <a:p>
            <a:pPr>
              <a:spcBef>
                <a:spcPts val="0"/>
              </a:spcBef>
            </a:pPr>
            <a:endParaRPr lang="en-US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797FB-9D6A-2F09-88D3-210B9388C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/>
              <a:t>10/9/2021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12681-0BC0-AD4D-4477-9E86713E4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F6CAD-8173-7301-5C6D-E8689D1BB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14</a:t>
            </a:fld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53D47F-2AC9-FB68-5925-6B7C10362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68" y="2361295"/>
            <a:ext cx="4794341" cy="213541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3139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630E-2B41-770F-E397-237EAD30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CF4E-A2C0-307D-3931-CD087C09D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70429"/>
          </a:xfrm>
        </p:spPr>
        <p:txBody>
          <a:bodyPr rtlCol="0"/>
          <a:lstStyle/>
          <a:p>
            <a:pPr rtl="0"/>
            <a:r>
              <a:rPr lang="en-GB" sz="3600" dirty="0"/>
              <a:t>Practical Implications for Framework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A0F4-2418-B2EA-3637-6BE17BA6A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506071"/>
            <a:ext cx="9779182" cy="42896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rtl="0"/>
            <a:r>
              <a:rPr lang="en-GB" sz="1900" b="1" dirty="0"/>
              <a:t>Performance-Critical or Resource-Constrained Environments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Yii and CodeIgniter demonstrated lower latency and memory usage under read-heavy workload conditions.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Suitable for high-traffic APIs or limited-resource hosting environments.</a:t>
            </a:r>
          </a:p>
          <a:p>
            <a:pPr rtl="0"/>
            <a:r>
              <a:rPr lang="en-GB" sz="1900" b="1" dirty="0"/>
              <a:t>Enterprise-Scale and Modular Systems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Symfony’s structured component architecture supports maintainability and extensibility.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Appropriate where long-term scalability and modular design outweigh raw performance.</a:t>
            </a:r>
          </a:p>
          <a:p>
            <a:pPr rtl="0"/>
            <a:r>
              <a:rPr lang="en-GB" sz="1900" b="1" dirty="0"/>
              <a:t>Rapid Development and Ecosystem Support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Laravel provides extensive tooling, developer ergonomics, and ecosystem maturity.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Trade-off observed between abstraction richness and runtime efficiency.</a:t>
            </a:r>
          </a:p>
          <a:p>
            <a:pPr rtl="0"/>
            <a:r>
              <a:rPr lang="en-GB" sz="1900" b="1" dirty="0"/>
              <a:t>Performance vs Maintainability Trade-offs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Lightweight frameworks prioritise execution efficiency.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Feature-rich frameworks prioritise architectural flexibility and developer productivity.</a:t>
            </a:r>
          </a:p>
          <a:p>
            <a:pPr rtl="0"/>
            <a:r>
              <a:rPr lang="en-GB" sz="1700" b="1" dirty="0"/>
              <a:t>Framework selection should align with application requirements, not popularity.</a:t>
            </a:r>
          </a:p>
          <a:p>
            <a:pPr rtl="0"/>
            <a:endParaRPr lang="en-GB" sz="1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2F63B-571C-2FCD-FD9B-FC2AF2421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en-GB"/>
              <a:t>26/02/2026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676B1-CA20-2E73-0C0B-62CF63971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39135" y="6356350"/>
            <a:ext cx="4314265" cy="365125"/>
          </a:xfrm>
        </p:spPr>
        <p:txBody>
          <a:bodyPr rtlCol="0"/>
          <a:lstStyle/>
          <a:p>
            <a:pPr rtl="0"/>
            <a:r>
              <a:rPr lang="en-GB"/>
              <a:t>Comparative Performance Analysis of PHP MVC Frameworks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3ED90-405B-DD7E-CA5C-35918178A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93020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098A-35FF-5E12-1C2F-C23CF237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6FBF-A645-67BC-A7FD-432F436E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1"/>
            <a:ext cx="9779183" cy="1017494"/>
          </a:xfrm>
        </p:spPr>
        <p:txBody>
          <a:bodyPr rtlCol="0" anchor="b">
            <a:normAutofit/>
          </a:bodyPr>
          <a:lstStyle/>
          <a:p>
            <a:pPr rtl="0"/>
            <a:r>
              <a:rPr lang="en-GB" dirty="0"/>
              <a:t>Limitations and Threats to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97739-1C08-D50F-75BD-C00520DB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553135"/>
            <a:ext cx="9779182" cy="424034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rtl="0"/>
            <a:r>
              <a:rPr lang="en-GB" sz="1500" b="1" dirty="0"/>
              <a:t>Controlled Local Testing Environment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Benchmarks conducted in a non-production local environment.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Results may differ under distributed or cloud-based deployments.</a:t>
            </a:r>
          </a:p>
          <a:p>
            <a:pPr rtl="0"/>
            <a:r>
              <a:rPr lang="en-GB" sz="1500" b="1" dirty="0"/>
              <a:t>Single Workload Type (Read-Heavy CRUD)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Scenario 1 focuses on read-dominant access patterns.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Write-heavy or compute-intensive workloads may produce different behaviour.</a:t>
            </a:r>
          </a:p>
          <a:p>
            <a:pPr rtl="0"/>
            <a:r>
              <a:rPr lang="en-GB" sz="1500" b="1" dirty="0"/>
              <a:t>No Advanced Optimisation Techniques Applied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Default framework configurations used.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Production-level tuning (caching layers, reverse proxies, OPcache optimisation) not explored.</a:t>
            </a:r>
          </a:p>
          <a:p>
            <a:pPr rtl="0"/>
            <a:r>
              <a:rPr lang="en-GB" sz="1500" b="1" dirty="0"/>
              <a:t>Limited Concurrency Range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Concurrency evaluated up to 100 users.</a:t>
            </a:r>
          </a:p>
          <a:p>
            <a:pPr marL="180000" indent="-180000" rtl="0">
              <a:buFont typeface="Arial" panose="020B0604020202020204" pitchFamily="34" charset="0"/>
              <a:buChar char="•"/>
            </a:pPr>
            <a:r>
              <a:rPr lang="en-GB" sz="1300" dirty="0"/>
              <a:t>Higher-scale stress testing may reveal different scalability characteristics.</a:t>
            </a:r>
          </a:p>
          <a:p>
            <a:pPr rtl="0"/>
            <a:r>
              <a:rPr lang="en-GB" sz="1500" b="1" dirty="0"/>
              <a:t>Framework Version and Runtime Dependency</a:t>
            </a:r>
          </a:p>
          <a:p>
            <a:pPr marL="180000" indent="-171450" rtl="0">
              <a:buFont typeface="Arial" panose="020B0604020202020204" pitchFamily="34" charset="0"/>
              <a:buChar char="•"/>
            </a:pPr>
            <a:r>
              <a:rPr lang="en-GB" sz="1300" dirty="0"/>
              <a:t>Results are specific to tested PHP version and framework releases.</a:t>
            </a:r>
          </a:p>
          <a:p>
            <a:pPr marL="180000" indent="-171450" rtl="0">
              <a:buFont typeface="Arial" panose="020B0604020202020204" pitchFamily="34" charset="0"/>
              <a:buChar char="•"/>
            </a:pPr>
            <a:r>
              <a:rPr lang="en-GB" sz="1300" dirty="0"/>
              <a:t>Future updates may alter performance characteristics.</a:t>
            </a:r>
          </a:p>
          <a:p>
            <a:pPr rtl="0"/>
            <a:endParaRPr lang="en-GB" sz="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36B9-751A-A0B8-05DC-CE583F38F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/>
              <a:t>26/02/2026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EE704-BF1B-67D3-8E37-FD50A4A0B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sz="1100" dirty="0"/>
              <a:t>Comparative Performance Analysis of PHP MVC Frameworks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8CD23-D6CD-72A2-A1AB-955FEF284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8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en-GB" sz="4400" dirty="0"/>
              <a:t>Conclusion and Objective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87563"/>
            <a:ext cx="4928508" cy="33668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1500" b="1" dirty="0">
                <a:solidFill>
                  <a:schemeClr val="accent5">
                    <a:lumMod val="50000"/>
                  </a:schemeClr>
                </a:solidFill>
              </a:rPr>
              <a:t>Objective 1 – Develop Functionally Equivalent Applications </a:t>
            </a:r>
            <a:r>
              <a:rPr lang="en-GB" sz="1500" dirty="0">
                <a:solidFill>
                  <a:schemeClr val="accent6"/>
                </a:solidFill>
              </a:rPr>
              <a:t>✔</a:t>
            </a:r>
            <a:endParaRPr lang="en-GB" sz="1500" b="1" dirty="0">
              <a:solidFill>
                <a:schemeClr val="accent6"/>
              </a:solidFill>
            </a:endParaRP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CRUD applications implemented in Laravel, Symfony, CodeIgniter and Yii.</a:t>
            </a: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Identical REST endpoints and database schema.</a:t>
            </a:r>
          </a:p>
          <a:p>
            <a:pPr>
              <a:spcBef>
                <a:spcPts val="1500"/>
              </a:spcBef>
            </a:pPr>
            <a:r>
              <a:rPr lang="en-GB" sz="1500" b="1" dirty="0">
                <a:solidFill>
                  <a:schemeClr val="accent5">
                    <a:lumMod val="50000"/>
                  </a:schemeClr>
                </a:solidFill>
              </a:rPr>
              <a:t>Objective 2 – Standardised Experimental Environment </a:t>
            </a:r>
            <a:r>
              <a:rPr lang="en-GB" sz="1500" dirty="0">
                <a:solidFill>
                  <a:schemeClr val="accent6"/>
                </a:solidFill>
              </a:rPr>
              <a:t>✔</a:t>
            </a:r>
            <a:endParaRPr lang="en-GB" sz="15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PHP 8.2.12, Apache 2.4.58, MariaDB 10.4.32.</a:t>
            </a: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Debug disabled, OPcache enabled.</a:t>
            </a: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No framework-specific optimisations.</a:t>
            </a:r>
          </a:p>
          <a:p>
            <a:pPr>
              <a:spcBef>
                <a:spcPts val="1500"/>
              </a:spcBef>
            </a:pPr>
            <a:r>
              <a:rPr lang="en-GB" sz="1500" b="1" dirty="0">
                <a:solidFill>
                  <a:schemeClr val="accent5">
                    <a:lumMod val="50000"/>
                  </a:schemeClr>
                </a:solidFill>
              </a:rPr>
              <a:t>Objective 3 – Reproducible Benchmarking </a:t>
            </a:r>
            <a:r>
              <a:rPr lang="en-GB" sz="1500" dirty="0">
                <a:solidFill>
                  <a:schemeClr val="accent6"/>
                </a:solidFill>
              </a:rPr>
              <a:t>✔</a:t>
            </a:r>
            <a:endParaRPr lang="en-GB" sz="15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Apache JMeter + Locust.</a:t>
            </a: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Controlled concurrency (1-100 users).</a:t>
            </a:r>
          </a:p>
          <a:p>
            <a:pPr marL="180000"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Multiple repeated runs.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38329-E174-7440-8FD5-179A15324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26/02/2026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D8152-D9C3-204A-9444-45CD4F180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100" kern="1200">
                <a:latin typeface="+mn-lt"/>
                <a:ea typeface="+mn-ea"/>
                <a:cs typeface="+mn-cs"/>
              </a:rPr>
              <a:t>Comparative Performance Analysis of PHP MVC Frameworks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7362-01DC-0E4C-9B34-0DF3FD449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GB" smtClean="0"/>
              <a:pPr>
                <a:spcAft>
                  <a:spcPts val="600"/>
                </a:spcAft>
              </a:pPr>
              <a:t>17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B5362-ED1D-2F1C-83CA-6469F25CDD6C}"/>
              </a:ext>
            </a:extLst>
          </p:cNvPr>
          <p:cNvSpPr txBox="1"/>
          <p:nvPr/>
        </p:nvSpPr>
        <p:spPr>
          <a:xfrm>
            <a:off x="6152334" y="2087563"/>
            <a:ext cx="5262918" cy="3841289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500"/>
              </a:spcBef>
            </a:pP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</a:rPr>
              <a:t>Objective 4 – Performance Measurement </a:t>
            </a:r>
            <a:r>
              <a:rPr lang="en-GB" sz="1500" dirty="0">
                <a:solidFill>
                  <a:schemeClr val="accent6"/>
                </a:solidFill>
              </a:rPr>
              <a:t>✔</a:t>
            </a:r>
            <a:endParaRPr lang="en-US" sz="1500" b="1" kern="1200" dirty="0">
              <a:solidFill>
                <a:schemeClr val="accent5">
                  <a:lumMod val="50000"/>
                </a:schemeClr>
              </a:solidFill>
            </a:endParaRPr>
          </a:p>
          <a:p>
            <a:pPr indent="-180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Mean response time.</a:t>
            </a:r>
          </a:p>
          <a:p>
            <a:pPr indent="-180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P95 tail latency.</a:t>
            </a:r>
          </a:p>
          <a:p>
            <a:pPr indent="-180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Throughput scaling.</a:t>
            </a:r>
          </a:p>
          <a:p>
            <a:pPr indent="-180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Memory usage.</a:t>
            </a:r>
          </a:p>
          <a:p>
            <a:pPr>
              <a:lnSpc>
                <a:spcPct val="90000"/>
              </a:lnSpc>
              <a:spcBef>
                <a:spcPts val="1500"/>
              </a:spcBef>
            </a:pP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</a:rPr>
              <a:t>Objective 5 – Architectural Analysis </a:t>
            </a:r>
            <a:r>
              <a:rPr lang="en-GB" sz="1500" dirty="0">
                <a:solidFill>
                  <a:schemeClr val="accent6"/>
                </a:solidFill>
              </a:rPr>
              <a:t>✔</a:t>
            </a:r>
            <a:endParaRPr lang="en-US" sz="1500" b="1" kern="1200" dirty="0">
              <a:solidFill>
                <a:schemeClr val="accent5">
                  <a:lumMod val="50000"/>
                </a:schemeClr>
              </a:solidFill>
            </a:endParaRPr>
          </a:p>
          <a:p>
            <a:pPr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Middleware depth examined.</a:t>
            </a:r>
          </a:p>
          <a:p>
            <a:pPr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Service container overhead evaluated.</a:t>
            </a:r>
          </a:p>
          <a:p>
            <a:pPr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500" kern="1200" dirty="0"/>
              <a:t>ORM abstraction impact analysed.</a:t>
            </a:r>
          </a:p>
          <a:p>
            <a:pPr>
              <a:lnSpc>
                <a:spcPct val="90000"/>
              </a:lnSpc>
              <a:spcBef>
                <a:spcPts val="1500"/>
              </a:spcBef>
            </a:pP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</a:rPr>
              <a:t>Current Stand-Point </a:t>
            </a:r>
            <a:r>
              <a:rPr lang="en-GB" sz="1500" dirty="0">
                <a:solidFill>
                  <a:schemeClr val="accent6"/>
                </a:solidFill>
              </a:rPr>
              <a:t>✔</a:t>
            </a:r>
            <a:endParaRPr lang="en-US" sz="1500" b="1" kern="1200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1500" kern="1200" dirty="0"/>
              <a:t>Under controlled read-heavy conditions, Yii demonstrated the most balanced overall performance profile, followed closely by CodeIgniter.</a:t>
            </a:r>
          </a:p>
          <a:p>
            <a:pPr>
              <a:lnSpc>
                <a:spcPct val="90000"/>
              </a:lnSpc>
            </a:pPr>
            <a:endParaRPr lang="en-US" sz="1300" kern="1200" dirty="0"/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/>
          <a:lstStyle/>
          <a:p>
            <a:pPr rtl="0"/>
            <a:r>
              <a:rPr lang="en-GB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rmAutofit/>
          </a:bodyPr>
          <a:lstStyle/>
          <a:p>
            <a:pPr rtl="0"/>
            <a:r>
              <a:rPr lang="en-GB" dirty="0">
                <a:solidFill>
                  <a:schemeClr val="accent5">
                    <a:lumMod val="50000"/>
                  </a:schemeClr>
                </a:solidFill>
              </a:rPr>
              <a:t>Corey Black</a:t>
            </a:r>
          </a:p>
          <a:p>
            <a:pPr rtl="0"/>
            <a:r>
              <a:rPr lang="en-GB" dirty="0">
                <a:solidFill>
                  <a:schemeClr val="accent5">
                    <a:lumMod val="50000"/>
                  </a:schemeClr>
                </a:solidFill>
              </a:rPr>
              <a:t>B01651145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457595_TF45331398_Win32" id="{5659B9E0-3971-467D-9BA2-B20B39D641FE}" vid="{E6DA4EDB-46C2-4D45-9E99-6BB2FEEE47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5BAB77-79E1-4739-AA51-10C9079186D6}">
  <ds:schemaRefs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http://purl.org/dc/dcmitype/"/>
    <ds:schemaRef ds:uri="http://schemas.microsoft.com/office/infopath/2007/PartnerControls"/>
    <ds:schemaRef ds:uri="230e9df3-be65-4c73-a93b-d1236ebd677e"/>
    <ds:schemaRef ds:uri="http://www.w3.org/XML/1998/namespace"/>
    <ds:schemaRef ds:uri="http://purl.org/dc/terms/"/>
    <ds:schemaRef ds:uri="16c05727-aa75-4e4a-9b5f-8a80a1165891"/>
    <ds:schemaRef ds:uri="71af3243-3dd4-4a8d-8c0d-dd76da1f02a5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{78F33C86-DEE0-4B13-A2EB-A6F02246C78C}tf45331398_win32</Template>
  <TotalTime>457</TotalTime>
  <Words>1751</Words>
  <Application>Microsoft Office PowerPoint</Application>
  <PresentationFormat>Widescreen</PresentationFormat>
  <Paragraphs>306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Tenorite</vt:lpstr>
      <vt:lpstr>Office Theme</vt:lpstr>
      <vt:lpstr>Comparative Performance Analysis of PHP MVC Frameworks</vt:lpstr>
      <vt:lpstr>Research Problem &amp; Contribution</vt:lpstr>
      <vt:lpstr>Aim and Objectives</vt:lpstr>
      <vt:lpstr>Research Methodology &amp; Experimental Design</vt:lpstr>
      <vt:lpstr>Benchmarking Framework &amp; Workload Design</vt:lpstr>
      <vt:lpstr>Experimental Environment &amp; System Configuration</vt:lpstr>
      <vt:lpstr>Standardised Application Architecture</vt:lpstr>
      <vt:lpstr>Scenario 1 – Average Response Time Scaling (1-100 Users)</vt:lpstr>
      <vt:lpstr>Scenario 1 – Tail Latency (95th Percentile)</vt:lpstr>
      <vt:lpstr>Scenario 1 – Throughput Scaling Behaviour</vt:lpstr>
      <vt:lpstr>Scenario 1 – Memory Efficiency Comparison</vt:lpstr>
      <vt:lpstr>Scenario 1 – Comparative Performance Summary</vt:lpstr>
      <vt:lpstr>Architectural Factors Influencing Performance</vt:lpstr>
      <vt:lpstr>Qualitative Developer Experience Comparison</vt:lpstr>
      <vt:lpstr>Practical Implications for Framework Selection</vt:lpstr>
      <vt:lpstr>Limitations and Threats to Validity</vt:lpstr>
      <vt:lpstr>Conclusion and Objective Evaluation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Black</dc:creator>
  <cp:lastModifiedBy>Corey Black</cp:lastModifiedBy>
  <cp:revision>16</cp:revision>
  <dcterms:created xsi:type="dcterms:W3CDTF">2026-02-26T12:56:32Z</dcterms:created>
  <dcterms:modified xsi:type="dcterms:W3CDTF">2026-03-01T19:35:04Z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